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06640" y="0"/>
            <a:ext cx="4782312" cy="685800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7896758" y="2946196"/>
            <a:ext cx="786384" cy="466344"/>
          </a:xfrm>
          <a:prstGeom prst="line">
            <a:avLst/>
          </a:prstGeom>
          <a:ln w="33020">
            <a:solidFill>
              <a:srgbClr val="0085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683142" y="2946196"/>
            <a:ext cx="825703" cy="248717"/>
          </a:xfrm>
          <a:prstGeom prst="line">
            <a:avLst/>
          </a:prstGeom>
          <a:ln w="33020">
            <a:solidFill>
              <a:srgbClr val="0085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9508845" y="2293315"/>
            <a:ext cx="747065" cy="901598"/>
          </a:xfrm>
          <a:prstGeom prst="line">
            <a:avLst/>
          </a:prstGeom>
          <a:ln w="33020">
            <a:solidFill>
              <a:srgbClr val="0085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255910" y="1826971"/>
            <a:ext cx="1297534" cy="466344"/>
          </a:xfrm>
          <a:prstGeom prst="line">
            <a:avLst/>
          </a:prstGeom>
          <a:ln w="33020">
            <a:solidFill>
              <a:srgbClr val="0085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851038" y="3366820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8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37422" y="290047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8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63125" y="3149193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8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210190" y="2247595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8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507724" y="1781251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8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525865" y="1391716"/>
            <a:ext cx="511150" cy="715061"/>
          </a:xfrm>
          <a:prstGeom prst="line">
            <a:avLst/>
          </a:prstGeom>
          <a:ln w="33020">
            <a:solidFill>
              <a:srgbClr val="E76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037015" y="2106777"/>
            <a:ext cx="471830" cy="1088136"/>
          </a:xfrm>
          <a:prstGeom prst="line">
            <a:avLst/>
          </a:prstGeom>
          <a:ln w="33020">
            <a:solidFill>
              <a:srgbClr val="E76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508845" y="3194913"/>
            <a:ext cx="1022299" cy="404165"/>
          </a:xfrm>
          <a:prstGeom prst="line">
            <a:avLst/>
          </a:prstGeom>
          <a:ln w="33020">
            <a:solidFill>
              <a:srgbClr val="E76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531144" y="3257092"/>
            <a:ext cx="865023" cy="341986"/>
          </a:xfrm>
          <a:prstGeom prst="line">
            <a:avLst/>
          </a:prstGeom>
          <a:ln w="33020">
            <a:solidFill>
              <a:srgbClr val="E76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480145" y="134599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76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91295" y="2061057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76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63125" y="3149193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76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485424" y="3553358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76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50447" y="321137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76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V="1">
            <a:off x="7936077" y="2106777"/>
            <a:ext cx="1100938" cy="248717"/>
          </a:xfrm>
          <a:prstGeom prst="line">
            <a:avLst/>
          </a:prstGeom>
          <a:ln w="33020">
            <a:solidFill>
              <a:srgbClr val="D19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037015" y="1609344"/>
            <a:ext cx="1061618" cy="497433"/>
          </a:xfrm>
          <a:prstGeom prst="line">
            <a:avLst/>
          </a:prstGeom>
          <a:ln w="33020">
            <a:solidFill>
              <a:srgbClr val="D19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098633" y="1609344"/>
            <a:ext cx="1022299" cy="746150"/>
          </a:xfrm>
          <a:prstGeom prst="line">
            <a:avLst/>
          </a:prstGeom>
          <a:ln w="33020">
            <a:solidFill>
              <a:srgbClr val="D19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890357" y="230977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9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91295" y="2061057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9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2913" y="156362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9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075212" y="230977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9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0864" y="3006547"/>
            <a:ext cx="9144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>
                <a:solidFill>
                  <a:srgbClr val="5C6C7C"/>
                </a:solidFill>
                <a:latin typeface="Aptos"/>
              </a:rPr>
              <a:t>HITEC CITY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06356" y="1607515"/>
            <a:ext cx="9144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>
                <a:solidFill>
                  <a:srgbClr val="5C6C7C"/>
                </a:solidFill>
                <a:latin typeface="Aptos"/>
              </a:rPr>
              <a:t>JUBILEE HILLS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25251" y="1856232"/>
            <a:ext cx="9144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>
                <a:solidFill>
                  <a:srgbClr val="5C6C7C"/>
                </a:solidFill>
                <a:latin typeface="Aptos"/>
              </a:rPr>
              <a:t>KPHB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52360" y="5051084"/>
            <a:ext cx="283464" cy="663915"/>
          </a:xfrm>
          <a:prstGeom prst="rect">
            <a:avLst/>
          </a:prstGeom>
          <a:solidFill>
            <a:srgbClr val="203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25512" y="5169956"/>
            <a:ext cx="41148" cy="50292"/>
          </a:xfrm>
          <a:prstGeom prst="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25512" y="5398556"/>
            <a:ext cx="41148" cy="50292"/>
          </a:xfrm>
          <a:prstGeom prst="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18120" y="4785038"/>
            <a:ext cx="283464" cy="929961"/>
          </a:xfrm>
          <a:prstGeom prst="rect">
            <a:avLst/>
          </a:prstGeom>
          <a:solidFill>
            <a:srgbClr val="203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91272" y="4903910"/>
            <a:ext cx="41148" cy="50292"/>
          </a:xfrm>
          <a:prstGeom prst="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91272" y="5132510"/>
            <a:ext cx="41148" cy="50292"/>
          </a:xfrm>
          <a:prstGeom prst="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91272" y="5361110"/>
            <a:ext cx="41148" cy="50292"/>
          </a:xfrm>
          <a:prstGeom prst="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83880" y="4936427"/>
            <a:ext cx="283464" cy="778572"/>
          </a:xfrm>
          <a:prstGeom prst="rect">
            <a:avLst/>
          </a:prstGeom>
          <a:solidFill>
            <a:srgbClr val="203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57032" y="5055299"/>
            <a:ext cx="41148" cy="50292"/>
          </a:xfrm>
          <a:prstGeom prst="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57032" y="5283899"/>
            <a:ext cx="41148" cy="50292"/>
          </a:xfrm>
          <a:prstGeom prst="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49640" y="4733186"/>
            <a:ext cx="283464" cy="981813"/>
          </a:xfrm>
          <a:prstGeom prst="rect">
            <a:avLst/>
          </a:prstGeom>
          <a:solidFill>
            <a:srgbClr val="203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622792" y="4852058"/>
            <a:ext cx="41148" cy="50292"/>
          </a:xfrm>
          <a:prstGeom prst="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622792" y="5080658"/>
            <a:ext cx="41148" cy="50292"/>
          </a:xfrm>
          <a:prstGeom prst="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622792" y="5309258"/>
            <a:ext cx="41148" cy="50292"/>
          </a:xfrm>
          <a:prstGeom prst="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915400" y="4714249"/>
            <a:ext cx="283464" cy="1000750"/>
          </a:xfrm>
          <a:prstGeom prst="rect">
            <a:avLst/>
          </a:prstGeom>
          <a:solidFill>
            <a:srgbClr val="203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988552" y="4833121"/>
            <a:ext cx="41148" cy="50292"/>
          </a:xfrm>
          <a:prstGeom prst="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988552" y="5061721"/>
            <a:ext cx="41148" cy="50292"/>
          </a:xfrm>
          <a:prstGeom prst="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988552" y="5290321"/>
            <a:ext cx="41148" cy="50292"/>
          </a:xfrm>
          <a:prstGeom prst="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281160" y="5200876"/>
            <a:ext cx="283464" cy="514123"/>
          </a:xfrm>
          <a:prstGeom prst="rect">
            <a:avLst/>
          </a:prstGeom>
          <a:solidFill>
            <a:srgbClr val="203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354312" y="5319748"/>
            <a:ext cx="41148" cy="50292"/>
          </a:xfrm>
          <a:prstGeom prst="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646920" y="5246361"/>
            <a:ext cx="283464" cy="468638"/>
          </a:xfrm>
          <a:prstGeom prst="rect">
            <a:avLst/>
          </a:prstGeom>
          <a:solidFill>
            <a:srgbClr val="203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720072" y="5365233"/>
            <a:ext cx="41148" cy="50292"/>
          </a:xfrm>
          <a:prstGeom prst="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012680" y="4530307"/>
            <a:ext cx="283464" cy="1184692"/>
          </a:xfrm>
          <a:prstGeom prst="rect">
            <a:avLst/>
          </a:prstGeom>
          <a:solidFill>
            <a:srgbClr val="203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085832" y="4649179"/>
            <a:ext cx="41148" cy="50292"/>
          </a:xfrm>
          <a:prstGeom prst="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085832" y="4877779"/>
            <a:ext cx="41148" cy="50292"/>
          </a:xfrm>
          <a:prstGeom prst="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085832" y="5106379"/>
            <a:ext cx="41148" cy="50292"/>
          </a:xfrm>
          <a:prstGeom prst="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085832" y="5334979"/>
            <a:ext cx="41148" cy="50292"/>
          </a:xfrm>
          <a:prstGeom prst="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378440" y="5032504"/>
            <a:ext cx="283464" cy="682495"/>
          </a:xfrm>
          <a:prstGeom prst="rect">
            <a:avLst/>
          </a:prstGeom>
          <a:solidFill>
            <a:srgbClr val="203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451592" y="5151376"/>
            <a:ext cx="41148" cy="50292"/>
          </a:xfrm>
          <a:prstGeom prst="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451592" y="5379976"/>
            <a:ext cx="41148" cy="50292"/>
          </a:xfrm>
          <a:prstGeom prst="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744200" y="5054241"/>
            <a:ext cx="283464" cy="660758"/>
          </a:xfrm>
          <a:prstGeom prst="rect">
            <a:avLst/>
          </a:prstGeom>
          <a:solidFill>
            <a:srgbClr val="203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817352" y="5173113"/>
            <a:ext cx="41148" cy="50292"/>
          </a:xfrm>
          <a:prstGeom prst="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817352" y="5401713"/>
            <a:ext cx="41148" cy="50292"/>
          </a:xfrm>
          <a:prstGeom prst="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109960" y="4392903"/>
            <a:ext cx="283464" cy="1322096"/>
          </a:xfrm>
          <a:prstGeom prst="rect">
            <a:avLst/>
          </a:prstGeom>
          <a:solidFill>
            <a:srgbClr val="203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183112" y="4511775"/>
            <a:ext cx="41148" cy="50292"/>
          </a:xfrm>
          <a:prstGeom prst="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183112" y="4740375"/>
            <a:ext cx="41148" cy="50292"/>
          </a:xfrm>
          <a:prstGeom prst="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1183112" y="4968975"/>
            <a:ext cx="41148" cy="50292"/>
          </a:xfrm>
          <a:prstGeom prst="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1183112" y="5197575"/>
            <a:ext cx="41148" cy="50292"/>
          </a:xfrm>
          <a:prstGeom prst="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83112" y="5426175"/>
            <a:ext cx="41148" cy="50292"/>
          </a:xfrm>
          <a:prstGeom prst="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475720" y="4849291"/>
            <a:ext cx="283464" cy="865708"/>
          </a:xfrm>
          <a:prstGeom prst="rect">
            <a:avLst/>
          </a:prstGeom>
          <a:solidFill>
            <a:srgbClr val="203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548872" y="4968163"/>
            <a:ext cx="41148" cy="50292"/>
          </a:xfrm>
          <a:prstGeom prst="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548872" y="5196763"/>
            <a:ext cx="41148" cy="50292"/>
          </a:xfrm>
          <a:prstGeom prst="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548872" y="5425363"/>
            <a:ext cx="41148" cy="50292"/>
          </a:xfrm>
          <a:prstGeom prst="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1841480" y="4531182"/>
            <a:ext cx="283464" cy="1183817"/>
          </a:xfrm>
          <a:prstGeom prst="rect">
            <a:avLst/>
          </a:prstGeom>
          <a:solidFill>
            <a:srgbClr val="203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914632" y="4650054"/>
            <a:ext cx="41148" cy="50292"/>
          </a:xfrm>
          <a:prstGeom prst="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1914632" y="4878654"/>
            <a:ext cx="41148" cy="50292"/>
          </a:xfrm>
          <a:prstGeom prst="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1914632" y="5107254"/>
            <a:ext cx="41148" cy="50292"/>
          </a:xfrm>
          <a:prstGeom prst="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1914632" y="5335854"/>
            <a:ext cx="41148" cy="50292"/>
          </a:xfrm>
          <a:prstGeom prst="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731520" y="621792"/>
            <a:ext cx="2148840" cy="265176"/>
          </a:xfrm>
          <a:prstGeom prst="round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77240" y="644652"/>
            <a:ext cx="205740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8585"/>
                </a:solidFill>
                <a:latin typeface="Aptos"/>
              </a:rPr>
              <a:t>DSA-3  •  COURSE PROJECT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13232" y="1417320"/>
            <a:ext cx="62179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 i="0">
                <a:solidFill>
                  <a:srgbClr val="142A44"/>
                </a:solidFill>
                <a:latin typeface="Aptos Display"/>
              </a:rPr>
              <a:t>PUBLIC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3232" y="2029968"/>
            <a:ext cx="6400800" cy="6949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008585"/>
                </a:solidFill>
                <a:latin typeface="Aptos Display"/>
              </a:rPr>
              <a:t>TRANSIT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3232" y="2706624"/>
            <a:ext cx="6400800" cy="6949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E76757"/>
                </a:solidFill>
                <a:latin typeface="Aptos Display"/>
              </a:rPr>
              <a:t>PLANNER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77240" y="3657600"/>
            <a:ext cx="59436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A44"/>
                </a:solidFill>
                <a:latin typeface="Aptos"/>
              </a:rPr>
              <a:t>A clearer way to move through the city.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86384" y="4160520"/>
            <a:ext cx="52120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C6C7C"/>
                </a:solidFill>
                <a:latin typeface="Aptos"/>
              </a:rPr>
              <a:t>Plan routes. Compare travel choices.
Commute with more confidence.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786384" y="5010912"/>
            <a:ext cx="5522976" cy="0"/>
          </a:xfrm>
          <a:prstGeom prst="line">
            <a:avLst/>
          </a:prstGeom>
          <a:ln w="12700">
            <a:solidFill>
              <a:srgbClr val="DCE0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795528" y="5230368"/>
            <a:ext cx="1371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008585"/>
                </a:solidFill>
                <a:latin typeface="Aptos"/>
              </a:rPr>
              <a:t>PRESENTED BY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5528" y="5468112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A44"/>
                </a:solidFill>
                <a:latin typeface="Aptos Display"/>
              </a:rPr>
              <a:t>Lokesh Tella  •  Sai Bhaskar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04672" y="5833872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C6C7C"/>
                </a:solidFill>
                <a:latin typeface="Aptos"/>
              </a:rPr>
              <a:t>TEAM 12  |  SECTION 12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04672" y="6245352"/>
            <a:ext cx="5029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C6C7C"/>
                </a:solidFill>
                <a:latin typeface="Aptos"/>
              </a:rPr>
              <a:t>Guide: Ms. K. Chandusha  •  CS&amp;IT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818120" y="4754880"/>
            <a:ext cx="393192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ptos Display"/>
              </a:rPr>
              <a:t>SMARTER ROUTES,
BETTER JOURNEYS.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45552" y="5989320"/>
            <a:ext cx="35661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AF1ED"/>
                </a:solidFill>
                <a:latin typeface="Aptos"/>
              </a:rPr>
              <a:t>ACADEMIC YEAR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5486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008585"/>
                </a:solidFill>
                <a:latin typeface="Aptos"/>
              </a:rPr>
              <a:t>01 / 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42A44"/>
                </a:solidFill>
                <a:latin typeface="Aptos Display"/>
              </a:rPr>
              <a:t>Urban journeys are fragmented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225296"/>
            <a:ext cx="10789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C"/>
                </a:solidFill>
                <a:latin typeface="Aptos"/>
              </a:rPr>
              <a:t>Commuters need more than directions: they need a clear way to compare their options.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664208"/>
            <a:ext cx="594360" cy="41148"/>
          </a:xfrm>
          <a:prstGeom prst="rect">
            <a:avLst/>
          </a:prstGeom>
          <a:solidFill>
            <a:srgbClr val="E76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10160">
            <a:solidFill>
              <a:srgbClr val="DCE0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0528"/>
            <a:ext cx="3657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C6C7C"/>
                </a:solidFill>
                <a:latin typeface="Aptos"/>
              </a:rPr>
              <a:t>PUBLIC TRANSIT PLANNER  •  DSA-3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92240"/>
            <a:ext cx="7772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5C6C7C"/>
                </a:solidFill>
                <a:latin typeface="Aptos"/>
              </a:rPr>
              <a:t>02  / 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3017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E76757"/>
                </a:solidFill>
                <a:latin typeface="Aptos"/>
              </a:rPr>
              <a:t>THE DAILY COMMUTE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487168"/>
            <a:ext cx="38862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42A44"/>
                </a:solidFill>
                <a:latin typeface="Aptos Display"/>
              </a:rPr>
              <a:t>Too many apps.
Too many unknowns.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858768"/>
            <a:ext cx="333756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C6C7C"/>
                </a:solidFill>
                <a:latin typeface="Aptos"/>
              </a:rPr>
              <a:t>Schedules, fares and route details are often spread across different sources. That makes even a familiar trip harder to plan.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084831"/>
            <a:ext cx="6812280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8032" y="2286000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8585"/>
                </a:solidFill>
                <a:latin typeface="Aptos Display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249424"/>
            <a:ext cx="23317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2A44"/>
                </a:solidFill>
                <a:latin typeface="Aptos"/>
              </a:rPr>
              <a:t>Scattered information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240279"/>
            <a:ext cx="3154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C7C"/>
                </a:solidFill>
                <a:latin typeface="Aptos"/>
              </a:rPr>
              <a:t>Bus and metro details are not always available in one place.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3273552"/>
            <a:ext cx="6812280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28032" y="3474720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D19D3D"/>
                </a:solidFill>
                <a:latin typeface="Aptos Display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438144"/>
            <a:ext cx="23317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2A44"/>
                </a:solidFill>
                <a:latin typeface="Aptos"/>
              </a:rPr>
              <a:t>Uncertain arrival times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429000"/>
            <a:ext cx="3154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C7C"/>
                </a:solidFill>
                <a:latin typeface="Aptos"/>
              </a:rPr>
              <a:t>Delays and limited updates make it difficult to judge a trip.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4462272"/>
            <a:ext cx="6812280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28032" y="4663440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E76757"/>
                </a:solidFill>
                <a:latin typeface="Aptos Display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4626864"/>
            <a:ext cx="23317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2A44"/>
                </a:solidFill>
                <a:latin typeface="Aptos"/>
              </a:rPr>
              <a:t>Difficult route comparison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617720"/>
            <a:ext cx="3154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C7C"/>
                </a:solidFill>
                <a:latin typeface="Aptos"/>
              </a:rPr>
              <a:t>Fastest, cheapest and fewer-transfer routes can differ.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17720" y="5806440"/>
            <a:ext cx="6720840" cy="384048"/>
          </a:xfrm>
          <a:prstGeom prst="round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0" y="5897880"/>
            <a:ext cx="6355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8585"/>
                </a:solidFill>
                <a:latin typeface="Aptos"/>
              </a:rPr>
              <a:t>THE OPPORTUNITY:  one clear view of the entire journey.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5486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008585"/>
                </a:solidFill>
                <a:latin typeface="Aptos"/>
              </a:rPr>
              <a:t>02 / THE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42A44"/>
                </a:solidFill>
                <a:latin typeface="Aptos Display"/>
              </a:rPr>
              <a:t>One planner. Three better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225296"/>
            <a:ext cx="10789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C"/>
                </a:solidFill>
                <a:latin typeface="Aptos"/>
              </a:rPr>
              <a:t>A single journey flow turns a source and destination into comparable route options.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664208"/>
            <a:ext cx="594360" cy="41148"/>
          </a:xfrm>
          <a:prstGeom prst="rect">
            <a:avLst/>
          </a:prstGeom>
          <a:solidFill>
            <a:srgbClr val="E76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10160">
            <a:solidFill>
              <a:srgbClr val="DCE0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0528"/>
            <a:ext cx="3657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C6C7C"/>
                </a:solidFill>
                <a:latin typeface="Aptos"/>
              </a:rPr>
              <a:t>PUBLIC TRANSIT PLANNER  •  DSA-3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92240"/>
            <a:ext cx="7772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5C6C7C"/>
                </a:solidFill>
                <a:latin typeface="Aptos"/>
              </a:rPr>
              <a:t>03  /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011680"/>
            <a:ext cx="498348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258568"/>
            <a:ext cx="2743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008585"/>
                </a:solidFill>
                <a:latin typeface="Aptos"/>
              </a:rPr>
              <a:t>TRANSIT NETWORK VIEW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1137513" y="4181551"/>
            <a:ext cx="859536" cy="390906"/>
          </a:xfrm>
          <a:prstGeom prst="line">
            <a:avLst/>
          </a:prstGeom>
          <a:ln w="33020">
            <a:solidFill>
              <a:srgbClr val="0085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997049" y="4181551"/>
            <a:ext cx="902513" cy="208483"/>
          </a:xfrm>
          <a:prstGeom prst="line">
            <a:avLst/>
          </a:prstGeom>
          <a:ln w="33020">
            <a:solidFill>
              <a:srgbClr val="0085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899562" y="3634282"/>
            <a:ext cx="816559" cy="755752"/>
          </a:xfrm>
          <a:prstGeom prst="line">
            <a:avLst/>
          </a:prstGeom>
          <a:ln w="33020">
            <a:solidFill>
              <a:srgbClr val="0085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716121" y="3243376"/>
            <a:ext cx="1418235" cy="390906"/>
          </a:xfrm>
          <a:prstGeom prst="line">
            <a:avLst/>
          </a:prstGeom>
          <a:ln w="33020">
            <a:solidFill>
              <a:srgbClr val="0085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1793" y="4526737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8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951329" y="4135831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8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853842" y="434431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8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70401" y="358856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8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88636" y="319765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8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1825142" y="2878531"/>
            <a:ext cx="558698" cy="599389"/>
          </a:xfrm>
          <a:prstGeom prst="line">
            <a:avLst/>
          </a:prstGeom>
          <a:ln w="33020">
            <a:solidFill>
              <a:srgbClr val="E76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383840" y="3477920"/>
            <a:ext cx="515722" cy="912114"/>
          </a:xfrm>
          <a:prstGeom prst="line">
            <a:avLst/>
          </a:prstGeom>
          <a:ln w="33020">
            <a:solidFill>
              <a:srgbClr val="E76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899562" y="4390034"/>
            <a:ext cx="1117397" cy="338785"/>
          </a:xfrm>
          <a:prstGeom prst="line">
            <a:avLst/>
          </a:prstGeom>
          <a:ln w="33020">
            <a:solidFill>
              <a:srgbClr val="E76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016959" y="4442155"/>
            <a:ext cx="945489" cy="286664"/>
          </a:xfrm>
          <a:prstGeom prst="line">
            <a:avLst/>
          </a:prstGeom>
          <a:ln w="33020">
            <a:solidFill>
              <a:srgbClr val="E76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779422" y="2832811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76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338120" y="3432200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76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853842" y="434431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76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71239" y="4683099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76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916728" y="4396435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76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V="1">
            <a:off x="1180490" y="3477920"/>
            <a:ext cx="1203350" cy="208483"/>
          </a:xfrm>
          <a:prstGeom prst="line">
            <a:avLst/>
          </a:prstGeom>
          <a:ln w="33020">
            <a:solidFill>
              <a:srgbClr val="D19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383840" y="3060954"/>
            <a:ext cx="1160374" cy="416966"/>
          </a:xfrm>
          <a:prstGeom prst="line">
            <a:avLst/>
          </a:prstGeom>
          <a:ln w="33020">
            <a:solidFill>
              <a:srgbClr val="D19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544214" y="3060954"/>
            <a:ext cx="1117397" cy="625449"/>
          </a:xfrm>
          <a:prstGeom prst="line">
            <a:avLst/>
          </a:prstGeom>
          <a:ln w="33020">
            <a:solidFill>
              <a:srgbClr val="D19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134770" y="3640683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9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338120" y="3432200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9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498494" y="301523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9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615891" y="3640683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9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93799" y="4246930"/>
            <a:ext cx="9144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>
                <a:solidFill>
                  <a:srgbClr val="5C6C7C"/>
                </a:solidFill>
                <a:latin typeface="Aptos"/>
              </a:rPr>
              <a:t>HITEC CITY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40964" y="3074212"/>
            <a:ext cx="9144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>
                <a:solidFill>
                  <a:srgbClr val="5C6C7C"/>
                </a:solidFill>
                <a:latin typeface="Aptos"/>
              </a:rPr>
              <a:t>JUBILEE HILLS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73244" y="3282696"/>
            <a:ext cx="9144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>
                <a:solidFill>
                  <a:srgbClr val="5C6C7C"/>
                </a:solidFill>
                <a:latin typeface="Aptos"/>
              </a:rPr>
              <a:t>KPHB</a:t>
            </a:r>
          </a:p>
        </p:txBody>
      </p:sp>
      <p:sp>
        <p:nvSpPr>
          <p:cNvPr id="39" name="Oval 38"/>
          <p:cNvSpPr/>
          <p:nvPr/>
        </p:nvSpPr>
        <p:spPr>
          <a:xfrm>
            <a:off x="6309360" y="2240280"/>
            <a:ext cx="393192" cy="393192"/>
          </a:xfrm>
          <a:prstGeom prst="ellipse">
            <a:avLst/>
          </a:prstGeom>
          <a:solidFill>
            <a:srgbClr val="00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2304288"/>
            <a:ext cx="39319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31152" y="2221992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A44"/>
                </a:solidFill>
                <a:latin typeface="Aptos Display"/>
              </a:rPr>
              <a:t>Enter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1152" y="2596896"/>
            <a:ext cx="402336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C"/>
                </a:solidFill>
                <a:latin typeface="Aptos"/>
              </a:rPr>
              <a:t>Set a source and destination.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501384" y="2679192"/>
            <a:ext cx="0" cy="585216"/>
          </a:xfrm>
          <a:prstGeom prst="line">
            <a:avLst/>
          </a:prstGeom>
          <a:ln w="17780">
            <a:solidFill>
              <a:srgbClr val="DCE0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6309360" y="3319272"/>
            <a:ext cx="393192" cy="393192"/>
          </a:xfrm>
          <a:prstGeom prst="ellipse">
            <a:avLst/>
          </a:prstGeom>
          <a:solidFill>
            <a:srgbClr val="E76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3383279"/>
            <a:ext cx="39319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31152" y="3300984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A44"/>
                </a:solidFill>
                <a:latin typeface="Aptos Display"/>
              </a:rPr>
              <a:t>Compare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31152" y="3675887"/>
            <a:ext cx="402336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C"/>
                </a:solidFill>
                <a:latin typeface="Aptos"/>
              </a:rPr>
              <a:t>Review travel time, estimated fare and transfers.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501384" y="3758183"/>
            <a:ext cx="0" cy="585217"/>
          </a:xfrm>
          <a:prstGeom prst="line">
            <a:avLst/>
          </a:prstGeom>
          <a:ln w="17780">
            <a:solidFill>
              <a:srgbClr val="DCE0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6309360" y="4398264"/>
            <a:ext cx="393192" cy="393192"/>
          </a:xfrm>
          <a:prstGeom prst="ellipse">
            <a:avLst/>
          </a:prstGeom>
          <a:solidFill>
            <a:srgbClr val="32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4462272"/>
            <a:ext cx="39319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31152" y="4379976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A44"/>
                </a:solidFill>
                <a:latin typeface="Aptos Display"/>
              </a:rPr>
              <a:t>Choose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31152" y="4754880"/>
            <a:ext cx="402336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C"/>
                </a:solidFill>
                <a:latin typeface="Aptos"/>
              </a:rPr>
              <a:t>Select the route that best fits your priority.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949440" y="5577840"/>
            <a:ext cx="1051560" cy="265176"/>
          </a:xfrm>
          <a:prstGeom prst="roundRect">
            <a:avLst/>
          </a:prstGeom>
          <a:solidFill>
            <a:srgbClr val="E2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95159" y="5600700"/>
            <a:ext cx="960119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32805B"/>
                </a:solidFill>
                <a:latin typeface="Aptos"/>
              </a:rPr>
              <a:t>FASTEST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11312" y="5577840"/>
            <a:ext cx="1417320" cy="265176"/>
          </a:xfrm>
          <a:prstGeom prst="roundRect">
            <a:avLst/>
          </a:prstGeom>
          <a:solidFill>
            <a:srgbClr val="F9F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57032" y="5600700"/>
            <a:ext cx="132588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142A44"/>
                </a:solidFill>
                <a:latin typeface="Aptos"/>
              </a:rPr>
              <a:t>LOWEST FARE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829800" y="5577840"/>
            <a:ext cx="1572768" cy="265176"/>
          </a:xfrm>
          <a:prstGeom prst="roundRect">
            <a:avLst/>
          </a:prstGeom>
          <a:solidFill>
            <a:srgbClr val="FCE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75520" y="5600700"/>
            <a:ext cx="1481328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E76757"/>
                </a:solidFill>
                <a:latin typeface="Aptos"/>
              </a:rPr>
              <a:t>FEWEST TRANSFERS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5486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008585"/>
                </a:solidFill>
                <a:latin typeface="Aptos"/>
              </a:rPr>
              <a:t>03 /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42A44"/>
                </a:solidFill>
                <a:latin typeface="Aptos Display"/>
              </a:rPr>
              <a:t>Designed around commuter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225296"/>
            <a:ext cx="10789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C"/>
                </a:solidFill>
                <a:latin typeface="Aptos"/>
              </a:rPr>
              <a:t>The project focuses on practical decisions and useful information—not feature overload.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664208"/>
            <a:ext cx="594360" cy="41148"/>
          </a:xfrm>
          <a:prstGeom prst="rect">
            <a:avLst/>
          </a:prstGeom>
          <a:solidFill>
            <a:srgbClr val="E76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10160">
            <a:solidFill>
              <a:srgbClr val="DCE0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0528"/>
            <a:ext cx="3657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C6C7C"/>
                </a:solidFill>
                <a:latin typeface="Aptos"/>
              </a:rPr>
              <a:t>PUBLIC TRANSIT PLANNER  •  DSA-3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92240"/>
            <a:ext cx="7772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5C6C7C"/>
                </a:solidFill>
                <a:latin typeface="Aptos"/>
              </a:rPr>
              <a:t>04  /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103120"/>
            <a:ext cx="5193792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313432"/>
            <a:ext cx="5943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08585"/>
                </a:solidFill>
                <a:latin typeface="Aptos Display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313432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A44"/>
                </a:solidFill>
                <a:latin typeface="Aptos Display"/>
              </a:rPr>
              <a:t>Route 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724912"/>
            <a:ext cx="3840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C7C"/>
                </a:solidFill>
                <a:latin typeface="Aptos"/>
              </a:rPr>
              <a:t>Find a route between a chosen source and destination.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103120"/>
            <a:ext cx="5193792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7" y="2313432"/>
            <a:ext cx="5943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E76757"/>
                </a:solidFill>
                <a:latin typeface="Aptos Display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79" y="2313432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A44"/>
                </a:solidFill>
                <a:latin typeface="Aptos Display"/>
              </a:rPr>
              <a:t>Meaningful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2724912"/>
            <a:ext cx="3840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C7C"/>
                </a:solidFill>
                <a:latin typeface="Aptos"/>
              </a:rPr>
              <a:t>Compare fastest, cheapest and lower-transfer options.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67328"/>
            <a:ext cx="5193792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3977640"/>
            <a:ext cx="5943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D19D3D"/>
                </a:solidFill>
                <a:latin typeface="Aptos Display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977640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A44"/>
                </a:solidFill>
                <a:latin typeface="Aptos Display"/>
              </a:rPr>
              <a:t>Trip estimates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389120"/>
            <a:ext cx="3840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C7C"/>
                </a:solidFill>
                <a:latin typeface="Aptos"/>
              </a:rPr>
              <a:t>Present indicative travel time and fare information.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3767328"/>
            <a:ext cx="5193792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7" y="3977640"/>
            <a:ext cx="5943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32805B"/>
                </a:solidFill>
                <a:latin typeface="Aptos Display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79" y="3977640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A44"/>
                </a:solidFill>
                <a:latin typeface="Aptos Display"/>
              </a:rPr>
              <a:t>Inclusive 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79" y="4389120"/>
            <a:ext cx="3840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C7C"/>
                </a:solidFill>
                <a:latin typeface="Aptos"/>
              </a:rPr>
              <a:t>Consider offline schedules and accessibility needs.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" y="5596128"/>
            <a:ext cx="10607040" cy="475488"/>
          </a:xfrm>
          <a:prstGeom prst="round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742432"/>
            <a:ext cx="14630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AF1ED"/>
                </a:solidFill>
                <a:latin typeface="Aptos"/>
              </a:rPr>
              <a:t>SUCCESS LOOKS LIKE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5687568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A commuter can understand the trade-offs and choose confidently.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5486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008585"/>
                </a:solidFill>
                <a:latin typeface="Aptos"/>
              </a:rPr>
              <a:t>04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42A44"/>
                </a:solidFill>
                <a:latin typeface="Aptos Display"/>
              </a:rPr>
              <a:t>Four layers. One connected journey.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225296"/>
            <a:ext cx="10789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C"/>
                </a:solidFill>
                <a:latin typeface="Aptos"/>
              </a:rPr>
              <a:t>The architecture separates user interaction, route computation and transit data responsibilities.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664208"/>
            <a:ext cx="594360" cy="41148"/>
          </a:xfrm>
          <a:prstGeom prst="rect">
            <a:avLst/>
          </a:prstGeom>
          <a:solidFill>
            <a:srgbClr val="E76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10160">
            <a:solidFill>
              <a:srgbClr val="DCE0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0528"/>
            <a:ext cx="3657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C6C7C"/>
                </a:solidFill>
                <a:latin typeface="Aptos"/>
              </a:rPr>
              <a:t>PUBLIC TRANSIT PLANNER  •  DSA-3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92240"/>
            <a:ext cx="7772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5C6C7C"/>
                </a:solidFill>
                <a:latin typeface="Aptos"/>
              </a:rPr>
              <a:t>05  /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23160"/>
            <a:ext cx="2176272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423160"/>
            <a:ext cx="2176272" cy="64008"/>
          </a:xfrm>
          <a:prstGeom prst="rect">
            <a:avLst/>
          </a:prstGeom>
          <a:solidFill>
            <a:srgbClr val="00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60904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8585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990088"/>
            <a:ext cx="18105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2A44"/>
                </a:solidFill>
                <a:latin typeface="Aptos"/>
              </a:rPr>
              <a:t>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83280"/>
            <a:ext cx="181051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C6C7C"/>
                </a:solidFill>
                <a:latin typeface="Aptos"/>
              </a:rPr>
              <a:t>Web / mobile interface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730752"/>
            <a:ext cx="181051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C6C7C"/>
                </a:solidFill>
                <a:latin typeface="Aptos"/>
              </a:rPr>
              <a:t>Source • destination • preferences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1880" y="2423160"/>
            <a:ext cx="2176272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11880" y="2423160"/>
            <a:ext cx="2176272" cy="64008"/>
          </a:xfrm>
          <a:prstGeom prst="rect">
            <a:avLst/>
          </a:prstGeom>
          <a:solidFill>
            <a:srgbClr val="203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60" y="2660904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03C59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990088"/>
            <a:ext cx="18105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2A44"/>
                </a:solidFill>
                <a:latin typeface="Aptos"/>
              </a:rPr>
              <a:t>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383280"/>
            <a:ext cx="181051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C6C7C"/>
                </a:solidFill>
                <a:latin typeface="Aptos"/>
              </a:rPr>
              <a:t>Backend / request handling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730752"/>
            <a:ext cx="181051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C6C7C"/>
                </a:solidFill>
                <a:latin typeface="Aptos"/>
              </a:rPr>
              <a:t>Validate inputs • coordinate services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423160"/>
            <a:ext cx="2176272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2423160"/>
            <a:ext cx="2176272" cy="64008"/>
          </a:xfrm>
          <a:prstGeom prst="rect">
            <a:avLst/>
          </a:prstGeom>
          <a:solidFill>
            <a:srgbClr val="E76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660904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E76757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990088"/>
            <a:ext cx="18105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2A44"/>
                </a:solidFill>
                <a:latin typeface="Aptos"/>
              </a:rPr>
              <a:t>ROUTE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383280"/>
            <a:ext cx="181051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C6C7C"/>
                </a:solidFill>
                <a:latin typeface="Aptos"/>
              </a:rPr>
              <a:t>Graph algorithms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730752"/>
            <a:ext cx="181051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C6C7C"/>
                </a:solidFill>
                <a:latin typeface="Aptos"/>
              </a:rPr>
              <a:t>Search paths • score alternatives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20" y="2423160"/>
            <a:ext cx="2176272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89720" y="2423160"/>
            <a:ext cx="2176272" cy="64008"/>
          </a:xfrm>
          <a:prstGeom prst="rect">
            <a:avLst/>
          </a:prstGeom>
          <a:solidFill>
            <a:srgbClr val="32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72600" y="2660904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2805B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2990088"/>
            <a:ext cx="18105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2A44"/>
                </a:solidFill>
                <a:latin typeface="Aptos"/>
              </a:rPr>
              <a:t>TRANSIT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3383280"/>
            <a:ext cx="181051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C6C7C"/>
                </a:solidFill>
                <a:latin typeface="Aptos"/>
              </a:rPr>
              <a:t>Schedules / routes / fares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3730752"/>
            <a:ext cx="181051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C6C7C"/>
                </a:solidFill>
                <a:latin typeface="Aptos"/>
              </a:rPr>
              <a:t>Stops • connections • service data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072384" y="3319272"/>
            <a:ext cx="457200" cy="0"/>
          </a:xfrm>
          <a:prstGeom prst="line">
            <a:avLst/>
          </a:prstGeom>
          <a:ln w="25400">
            <a:solidFill>
              <a:srgbClr val="0085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hevron 33"/>
          <p:cNvSpPr/>
          <p:nvPr/>
        </p:nvSpPr>
        <p:spPr>
          <a:xfrm>
            <a:off x="3355848" y="3218688"/>
            <a:ext cx="164592" cy="201168"/>
          </a:xfrm>
          <a:prstGeom prst="chevron">
            <a:avLst/>
          </a:prstGeom>
          <a:solidFill>
            <a:srgbClr val="00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5861304" y="3319272"/>
            <a:ext cx="457200" cy="0"/>
          </a:xfrm>
          <a:prstGeom prst="line">
            <a:avLst/>
          </a:prstGeom>
          <a:ln w="25400">
            <a:solidFill>
              <a:srgbClr val="0085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hevron 35"/>
          <p:cNvSpPr/>
          <p:nvPr/>
        </p:nvSpPr>
        <p:spPr>
          <a:xfrm>
            <a:off x="6144768" y="3218688"/>
            <a:ext cx="164592" cy="201168"/>
          </a:xfrm>
          <a:prstGeom prst="chevron">
            <a:avLst/>
          </a:prstGeom>
          <a:solidFill>
            <a:srgbClr val="00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8650224" y="3319272"/>
            <a:ext cx="457200" cy="0"/>
          </a:xfrm>
          <a:prstGeom prst="line">
            <a:avLst/>
          </a:prstGeom>
          <a:ln w="25400">
            <a:solidFill>
              <a:srgbClr val="0085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hevron 37"/>
          <p:cNvSpPr/>
          <p:nvPr/>
        </p:nvSpPr>
        <p:spPr>
          <a:xfrm>
            <a:off x="8933688" y="3218688"/>
            <a:ext cx="164592" cy="201168"/>
          </a:xfrm>
          <a:prstGeom prst="chevron">
            <a:avLst/>
          </a:prstGeom>
          <a:solidFill>
            <a:srgbClr val="00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10277856" y="4389120"/>
            <a:ext cx="0" cy="502920"/>
          </a:xfrm>
          <a:prstGeom prst="line">
            <a:avLst/>
          </a:prstGeom>
          <a:ln w="19050">
            <a:solidFill>
              <a:srgbClr val="328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1901952" y="4892040"/>
            <a:ext cx="8375904" cy="0"/>
          </a:xfrm>
          <a:prstGeom prst="line">
            <a:avLst/>
          </a:prstGeom>
          <a:ln w="19050">
            <a:solidFill>
              <a:srgbClr val="328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901952" y="4389120"/>
            <a:ext cx="0" cy="502920"/>
          </a:xfrm>
          <a:prstGeom prst="line">
            <a:avLst/>
          </a:prstGeom>
          <a:ln w="19050">
            <a:solidFill>
              <a:srgbClr val="328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023360" y="4754880"/>
            <a:ext cx="3931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32805B"/>
                </a:solidFill>
                <a:latin typeface="Aptos"/>
              </a:rPr>
              <a:t>ROUTE RESULTS RETURN TO THE USER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" y="5349240"/>
            <a:ext cx="31089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78992" y="5468112"/>
            <a:ext cx="27432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>
                <a:solidFill>
                  <a:srgbClr val="008585"/>
                </a:solidFill>
                <a:latin typeface="Aptos"/>
              </a:rPr>
              <a:t>INPUT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" y="5641848"/>
            <a:ext cx="2743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42A44"/>
                </a:solidFill>
                <a:latin typeface="Aptos"/>
              </a:rPr>
              <a:t>Journey request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8992" y="5870448"/>
            <a:ext cx="27432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C6C7C"/>
                </a:solidFill>
                <a:latin typeface="Aptos"/>
              </a:rPr>
              <a:t>Source + preferences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35424" y="5349240"/>
            <a:ext cx="31089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00016" y="5468112"/>
            <a:ext cx="27432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>
                <a:solidFill>
                  <a:srgbClr val="E76757"/>
                </a:solidFill>
                <a:latin typeface="Aptos"/>
              </a:rPr>
              <a:t>PROCESSING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00016" y="5641848"/>
            <a:ext cx="2743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42A44"/>
                </a:solidFill>
                <a:latin typeface="Aptos"/>
              </a:rPr>
              <a:t>Route engine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00016" y="5870448"/>
            <a:ext cx="27432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C6C7C"/>
                </a:solidFill>
                <a:latin typeface="Aptos"/>
              </a:rPr>
              <a:t>Path search + scoring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56448" y="5349240"/>
            <a:ext cx="31089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21040" y="5468112"/>
            <a:ext cx="27432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>
                <a:solidFill>
                  <a:srgbClr val="32805B"/>
                </a:solidFill>
                <a:latin typeface="Aptos"/>
              </a:rPr>
              <a:t>OUTPUT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5641848"/>
            <a:ext cx="2743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42A44"/>
                </a:solidFill>
                <a:latin typeface="Aptos"/>
              </a:rPr>
              <a:t>Route results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5870448"/>
            <a:ext cx="27432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C6C7C"/>
                </a:solidFill>
                <a:latin typeface="Aptos"/>
              </a:rPr>
              <a:t>Comparable options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5486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008585"/>
                </a:solidFill>
                <a:latin typeface="Aptos"/>
              </a:rPr>
              <a:t>05 / CORE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42A44"/>
                </a:solidFill>
                <a:latin typeface="Aptos Display"/>
              </a:rPr>
              <a:t>Useful features, built around real travel choices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225296"/>
            <a:ext cx="10789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C"/>
                </a:solidFill>
                <a:latin typeface="Aptos"/>
              </a:rPr>
              <a:t>The proposed capabilities align with the project abstract and poster.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664208"/>
            <a:ext cx="594360" cy="41148"/>
          </a:xfrm>
          <a:prstGeom prst="rect">
            <a:avLst/>
          </a:prstGeom>
          <a:solidFill>
            <a:srgbClr val="E76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10160">
            <a:solidFill>
              <a:srgbClr val="DCE0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0528"/>
            <a:ext cx="3657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C6C7C"/>
                </a:solidFill>
                <a:latin typeface="Aptos"/>
              </a:rPr>
              <a:t>PUBLIC TRANSIT PLANNER  •  DSA-3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92240"/>
            <a:ext cx="7772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5C6C7C"/>
                </a:solidFill>
                <a:latin typeface="Aptos"/>
              </a:rPr>
              <a:t>06  /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084831"/>
            <a:ext cx="3438144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8408" y="2286000"/>
            <a:ext cx="411480" cy="411480"/>
          </a:xfrm>
          <a:prstGeom prst="ellipse">
            <a:avLst/>
          </a:prstGeom>
          <a:solidFill>
            <a:srgbClr val="00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340863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313432"/>
            <a:ext cx="2468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8585"/>
                </a:solidFill>
                <a:latin typeface="Aptos"/>
              </a:rPr>
              <a:t>ROUTE OPTIMIZATION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5" y="2880360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C7C"/>
                </a:solidFill>
                <a:latin typeface="Aptos"/>
              </a:rPr>
              <a:t>Prioritize time, fare or transfers.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90288" y="2084831"/>
            <a:ext cx="3438144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91455" y="2286000"/>
            <a:ext cx="411480" cy="411480"/>
          </a:xfrm>
          <a:prstGeom prst="ellipse">
            <a:avLst/>
          </a:prstGeom>
          <a:solidFill>
            <a:srgbClr val="E76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91455" y="2340863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313432"/>
            <a:ext cx="2468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E76757"/>
                </a:solidFill>
                <a:latin typeface="Aptos"/>
              </a:rPr>
              <a:t>MULTI-MODAL ROUTES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744" y="2880360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C7C"/>
                </a:solidFill>
                <a:latin typeface="Aptos"/>
              </a:rPr>
              <a:t>Compare bus, metro and combined trips.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03336" y="2084831"/>
            <a:ext cx="3438144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04504" y="2286000"/>
            <a:ext cx="411480" cy="411480"/>
          </a:xfrm>
          <a:prstGeom prst="ellipse">
            <a:avLst/>
          </a:prstGeom>
          <a:solidFill>
            <a:srgbClr val="D19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04504" y="2340863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144" y="2313432"/>
            <a:ext cx="2468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19D3D"/>
                </a:solidFill>
                <a:latin typeface="Aptos"/>
              </a:rPr>
              <a:t>FARE ESTIMATION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22792" y="2880360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C7C"/>
                </a:solidFill>
                <a:latin typeface="Aptos"/>
              </a:rPr>
              <a:t>See indicative cost before choosing.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822191"/>
            <a:ext cx="3438144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8408" y="4023359"/>
            <a:ext cx="411480" cy="411480"/>
          </a:xfrm>
          <a:prstGeom prst="ellipse">
            <a:avLst/>
          </a:prstGeom>
          <a:solidFill>
            <a:srgbClr val="32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" y="4078224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050791"/>
            <a:ext cx="2468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2805B"/>
                </a:solidFill>
                <a:latin typeface="Aptos"/>
              </a:rPr>
              <a:t>ARRIVAL INFORMATION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5" y="4617720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C7C"/>
                </a:solidFill>
                <a:latin typeface="Aptos"/>
              </a:rPr>
              <a:t>Use available schedule and tracking data.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90288" y="3822191"/>
            <a:ext cx="3438144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791455" y="4023359"/>
            <a:ext cx="411480" cy="411480"/>
          </a:xfrm>
          <a:prstGeom prst="ellipse">
            <a:avLst/>
          </a:prstGeom>
          <a:solidFill>
            <a:srgbClr val="203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91455" y="4078224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0096" y="4050791"/>
            <a:ext cx="2468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03C59"/>
                </a:solidFill>
                <a:latin typeface="Aptos"/>
              </a:rPr>
              <a:t>OFFLINE SCHEDULES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9744" y="4617720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C7C"/>
                </a:solidFill>
                <a:latin typeface="Aptos"/>
              </a:rPr>
              <a:t>Keep essential timetable information accessible.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03336" y="3822191"/>
            <a:ext cx="3438144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04504" y="4023359"/>
            <a:ext cx="411480" cy="411480"/>
          </a:xfrm>
          <a:prstGeom prst="ellipse">
            <a:avLst/>
          </a:prstGeom>
          <a:solidFill>
            <a:srgbClr val="00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04504" y="4078224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53144" y="4050791"/>
            <a:ext cx="2468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8585"/>
                </a:solidFill>
                <a:latin typeface="Aptos"/>
              </a:rPr>
              <a:t>ACCESSIBILITY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22792" y="4617720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C7C"/>
                </a:solidFill>
                <a:latin typeface="Aptos"/>
              </a:rPr>
              <a:t>Consider route suitability for more commuters.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897880"/>
            <a:ext cx="10058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2A44"/>
                </a:solidFill>
                <a:latin typeface="Aptos"/>
              </a:rPr>
              <a:t>Design principle: make the trade-off visible, not hidden.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5486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008585"/>
                </a:solidFill>
                <a:latin typeface="Aptos"/>
              </a:rPr>
              <a:t>06 / DSA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42A44"/>
                </a:solidFill>
                <a:latin typeface="Aptos Display"/>
              </a:rPr>
              <a:t>Model the city as a weighted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225296"/>
            <a:ext cx="10789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C"/>
                </a:solidFill>
                <a:latin typeface="Aptos"/>
              </a:rPr>
              <a:t>Stops become vertices, transit connections become edges, and weights represent travel cost.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664208"/>
            <a:ext cx="594360" cy="41148"/>
          </a:xfrm>
          <a:prstGeom prst="rect">
            <a:avLst/>
          </a:prstGeom>
          <a:solidFill>
            <a:srgbClr val="E76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10160">
            <a:solidFill>
              <a:srgbClr val="DCE0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0528"/>
            <a:ext cx="3657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C6C7C"/>
                </a:solidFill>
                <a:latin typeface="Aptos"/>
              </a:rPr>
              <a:t>PUBLIC TRANSIT PLANNER  •  DSA-3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92240"/>
            <a:ext cx="7772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5C6C7C"/>
                </a:solidFill>
                <a:latin typeface="Aptos"/>
              </a:rPr>
              <a:t>07  /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93392"/>
            <a:ext cx="649224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1499616" y="2615184"/>
            <a:ext cx="1371600" cy="438912"/>
          </a:xfrm>
          <a:prstGeom prst="line">
            <a:avLst/>
          </a:prstGeom>
          <a:ln w="20320">
            <a:solidFill>
              <a:srgbClr val="DCE0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929384" y="2587752"/>
            <a:ext cx="310896" cy="219456"/>
          </a:xfrm>
          <a:prstGeom prst="round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9384" y="2610612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8585"/>
                </a:solidFill>
                <a:latin typeface="Aptos"/>
              </a:rP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99616" y="3054096"/>
            <a:ext cx="1417320" cy="1051559"/>
          </a:xfrm>
          <a:prstGeom prst="line">
            <a:avLst/>
          </a:prstGeom>
          <a:ln w="20320">
            <a:solidFill>
              <a:srgbClr val="DCE0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952243" y="3332988"/>
            <a:ext cx="310896" cy="219456"/>
          </a:xfrm>
          <a:prstGeom prst="round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52243" y="3355848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8585"/>
                </a:solidFill>
                <a:latin typeface="Aptos"/>
              </a:rPr>
              <a:t>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871216" y="2615184"/>
            <a:ext cx="45720" cy="1490471"/>
          </a:xfrm>
          <a:prstGeom prst="line">
            <a:avLst/>
          </a:prstGeom>
          <a:ln w="20320">
            <a:solidFill>
              <a:srgbClr val="DCE0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638044" y="3113532"/>
            <a:ext cx="310896" cy="219456"/>
          </a:xfrm>
          <a:prstGeom prst="round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38044" y="3136392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8585"/>
                </a:solidFill>
                <a:latin typeface="Aptos"/>
              </a:rPr>
              <a:t>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71216" y="2615184"/>
            <a:ext cx="1600200" cy="0"/>
          </a:xfrm>
          <a:prstGeom prst="line">
            <a:avLst/>
          </a:prstGeom>
          <a:ln w="20320">
            <a:solidFill>
              <a:srgbClr val="DCE0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15284" y="2368296"/>
            <a:ext cx="310896" cy="219456"/>
          </a:xfrm>
          <a:prstGeom prst="round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5284" y="2391156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8585"/>
                </a:solidFill>
                <a:latin typeface="Aptos"/>
              </a:rPr>
              <a:t>5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916936" y="4105655"/>
            <a:ext cx="1645919" cy="0"/>
          </a:xfrm>
          <a:prstGeom prst="line">
            <a:avLst/>
          </a:prstGeom>
          <a:ln w="20320">
            <a:solidFill>
              <a:srgbClr val="DCE0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483863" y="3858768"/>
            <a:ext cx="310896" cy="219456"/>
          </a:xfrm>
          <a:prstGeom prst="round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83863" y="3881627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8585"/>
                </a:solidFill>
                <a:latin typeface="Aptos"/>
              </a:rPr>
              <a:t>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471416" y="2615184"/>
            <a:ext cx="91439" cy="1490471"/>
          </a:xfrm>
          <a:prstGeom prst="line">
            <a:avLst/>
          </a:prstGeom>
          <a:ln w="20320">
            <a:solidFill>
              <a:srgbClr val="DCE0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261104" y="3113532"/>
            <a:ext cx="310896" cy="219456"/>
          </a:xfrm>
          <a:prstGeom prst="round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61104" y="3136392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8585"/>
                </a:solidFill>
                <a:latin typeface="Aptos"/>
              </a:rPr>
              <a:t>2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471416" y="2615184"/>
            <a:ext cx="1737360" cy="713232"/>
          </a:xfrm>
          <a:prstGeom prst="line">
            <a:avLst/>
          </a:prstGeom>
          <a:ln w="20320">
            <a:solidFill>
              <a:srgbClr val="DCE0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084064" y="2724912"/>
            <a:ext cx="310896" cy="219456"/>
          </a:xfrm>
          <a:prstGeom prst="round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84064" y="2747772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8585"/>
                </a:solidFill>
                <a:latin typeface="Aptos"/>
              </a:rPr>
              <a:t>4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4562855" y="3328416"/>
            <a:ext cx="1645921" cy="777239"/>
          </a:xfrm>
          <a:prstGeom prst="line">
            <a:avLst/>
          </a:prstGeom>
          <a:ln w="20320">
            <a:solidFill>
              <a:srgbClr val="DCE0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129784" y="3470148"/>
            <a:ext cx="310896" cy="219456"/>
          </a:xfrm>
          <a:prstGeom prst="round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9784" y="3493008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8585"/>
                </a:solidFill>
                <a:latin typeface="Aptos"/>
              </a:rPr>
              <a:t>2</a:t>
            </a:r>
          </a:p>
        </p:txBody>
      </p:sp>
      <p:sp>
        <p:nvSpPr>
          <p:cNvPr id="34" name="Oval 33"/>
          <p:cNvSpPr/>
          <p:nvPr/>
        </p:nvSpPr>
        <p:spPr>
          <a:xfrm>
            <a:off x="1371600" y="2926080"/>
            <a:ext cx="292608" cy="292608"/>
          </a:xfrm>
          <a:prstGeom prst="ellipse">
            <a:avLst/>
          </a:prstGeom>
          <a:solidFill>
            <a:srgbClr val="E76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71600" y="2958084"/>
            <a:ext cx="292608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36" name="Oval 35"/>
          <p:cNvSpPr/>
          <p:nvPr/>
        </p:nvSpPr>
        <p:spPr>
          <a:xfrm>
            <a:off x="2743200" y="2487168"/>
            <a:ext cx="292608" cy="292608"/>
          </a:xfrm>
          <a:prstGeom prst="ellipse">
            <a:avLst/>
          </a:prstGeom>
          <a:solidFill>
            <a:srgbClr val="00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0" y="2519172"/>
            <a:ext cx="292608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38" name="Oval 37"/>
          <p:cNvSpPr/>
          <p:nvPr/>
        </p:nvSpPr>
        <p:spPr>
          <a:xfrm>
            <a:off x="2788920" y="3977639"/>
            <a:ext cx="292608" cy="292608"/>
          </a:xfrm>
          <a:prstGeom prst="ellipse">
            <a:avLst/>
          </a:prstGeom>
          <a:solidFill>
            <a:srgbClr val="00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88920" y="4009644"/>
            <a:ext cx="292608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40" name="Oval 39"/>
          <p:cNvSpPr/>
          <p:nvPr/>
        </p:nvSpPr>
        <p:spPr>
          <a:xfrm>
            <a:off x="4343400" y="2487168"/>
            <a:ext cx="292608" cy="292608"/>
          </a:xfrm>
          <a:prstGeom prst="ellipse">
            <a:avLst/>
          </a:prstGeom>
          <a:solidFill>
            <a:srgbClr val="00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43400" y="2519172"/>
            <a:ext cx="292608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42" name="Oval 41"/>
          <p:cNvSpPr/>
          <p:nvPr/>
        </p:nvSpPr>
        <p:spPr>
          <a:xfrm>
            <a:off x="4434840" y="3977639"/>
            <a:ext cx="292608" cy="292608"/>
          </a:xfrm>
          <a:prstGeom prst="ellipse">
            <a:avLst/>
          </a:prstGeom>
          <a:solidFill>
            <a:srgbClr val="00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4840" y="4009644"/>
            <a:ext cx="292608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44" name="Oval 43"/>
          <p:cNvSpPr/>
          <p:nvPr/>
        </p:nvSpPr>
        <p:spPr>
          <a:xfrm>
            <a:off x="6080760" y="3200400"/>
            <a:ext cx="292608" cy="292608"/>
          </a:xfrm>
          <a:prstGeom prst="ellipse">
            <a:avLst/>
          </a:prstGeom>
          <a:solidFill>
            <a:srgbClr val="E76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80760" y="3232404"/>
            <a:ext cx="292608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" y="5650992"/>
            <a:ext cx="55778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5C6C7C"/>
                </a:solidFill>
                <a:latin typeface="Aptos"/>
              </a:rPr>
              <a:t>ILLUSTRATIVE NETWORK  •  EDGE WEIGHTS ARE EXAMPLE VALUES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43800" y="2011680"/>
            <a:ext cx="3794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54112" y="2139696"/>
            <a:ext cx="329184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>
                <a:solidFill>
                  <a:srgbClr val="008585"/>
                </a:solidFill>
                <a:latin typeface="Aptos"/>
              </a:rPr>
              <a:t>DATA MODEL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54112" y="2340864"/>
            <a:ext cx="3291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2A44"/>
                </a:solidFill>
                <a:latin typeface="Aptos"/>
              </a:rPr>
              <a:t>Graph representation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54112" y="2670048"/>
            <a:ext cx="329184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C6C7C"/>
                </a:solidFill>
                <a:latin typeface="Aptos"/>
              </a:rPr>
              <a:t>Vertices + weighted edges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543800" y="3182112"/>
            <a:ext cx="3794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54112" y="3310128"/>
            <a:ext cx="329184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>
                <a:solidFill>
                  <a:srgbClr val="E76757"/>
                </a:solidFill>
                <a:latin typeface="Aptos"/>
              </a:rPr>
              <a:t>STORAGE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54112" y="3511296"/>
            <a:ext cx="3291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2A44"/>
                </a:solidFill>
                <a:latin typeface="Aptos"/>
              </a:rPr>
              <a:t>Adjacency list / matrix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54112" y="3840480"/>
            <a:ext cx="329184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C6C7C"/>
                </a:solidFill>
                <a:latin typeface="Aptos"/>
              </a:rPr>
              <a:t>Store stop connections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543800" y="4352544"/>
            <a:ext cx="3794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54112" y="4480559"/>
            <a:ext cx="329184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>
                <a:solidFill>
                  <a:srgbClr val="32805B"/>
                </a:solidFill>
                <a:latin typeface="Aptos"/>
              </a:rPr>
              <a:t>SEARCH SUPPORT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54112" y="4681728"/>
            <a:ext cx="3291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2A44"/>
                </a:solidFill>
                <a:latin typeface="Aptos"/>
              </a:rPr>
              <a:t>Priority queue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54112" y="5010912"/>
            <a:ext cx="329184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C6C7C"/>
                </a:solidFill>
                <a:latin typeface="Aptos"/>
              </a:rPr>
              <a:t>Explore promising paths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89520" y="5596128"/>
            <a:ext cx="36576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C6C7C"/>
                </a:solidFill>
                <a:latin typeface="Aptos"/>
              </a:rPr>
              <a:t>Possible weights: time • fare • distance • transfer penalty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5486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008585"/>
                </a:solidFill>
                <a:latin typeface="Aptos"/>
              </a:rPr>
              <a:t>07 / ALGORITHM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42A44"/>
                </a:solidFill>
                <a:latin typeface="Aptos Display"/>
              </a:rPr>
              <a:t>From source and destination to a 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225296"/>
            <a:ext cx="10789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C"/>
                </a:solidFill>
                <a:latin typeface="Aptos"/>
              </a:rPr>
              <a:t>Dijkstra’s algorithm is a suitable baseline when all edge weights are non-negative.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664208"/>
            <a:ext cx="594360" cy="41148"/>
          </a:xfrm>
          <a:prstGeom prst="rect">
            <a:avLst/>
          </a:prstGeom>
          <a:solidFill>
            <a:srgbClr val="E76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10160">
            <a:solidFill>
              <a:srgbClr val="DCE0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0528"/>
            <a:ext cx="3657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C6C7C"/>
                </a:solidFill>
                <a:latin typeface="Aptos"/>
              </a:rPr>
              <a:t>PUBLIC TRANSIT PLANNER  •  DSA-3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92240"/>
            <a:ext cx="7772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5C6C7C"/>
                </a:solidFill>
                <a:latin typeface="Aptos"/>
              </a:rPr>
              <a:t>08  /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331720"/>
            <a:ext cx="248716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560320"/>
            <a:ext cx="658368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08585"/>
                </a:solidFill>
                <a:latin typeface="Aptos Display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136392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8585"/>
                </a:solidFill>
                <a:latin typeface="Aptos"/>
              </a:rPr>
              <a:t>CAPTURE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502152"/>
            <a:ext cx="20574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C7C"/>
                </a:solidFill>
                <a:latin typeface="Aptos"/>
              </a:rPr>
              <a:t>Read source, destination and selected priority.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73551" y="3291840"/>
            <a:ext cx="256033" cy="0"/>
          </a:xfrm>
          <a:prstGeom prst="line">
            <a:avLst/>
          </a:prstGeom>
          <a:ln w="25400">
            <a:solidFill>
              <a:srgbClr val="0085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hevron 13"/>
          <p:cNvSpPr/>
          <p:nvPr/>
        </p:nvSpPr>
        <p:spPr>
          <a:xfrm>
            <a:off x="3429000" y="3191256"/>
            <a:ext cx="164592" cy="201168"/>
          </a:xfrm>
          <a:prstGeom prst="chevron">
            <a:avLst/>
          </a:prstGeom>
          <a:solidFill>
            <a:srgbClr val="00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11879" y="2331720"/>
            <a:ext cx="248716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3048" y="2560320"/>
            <a:ext cx="658368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03C59"/>
                </a:solidFill>
                <a:latin typeface="Aptos Display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3048" y="3136392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03C59"/>
                </a:solidFill>
                <a:latin typeface="Aptos"/>
              </a:rPr>
              <a:t>INITIALIZE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3048" y="3502152"/>
            <a:ext cx="20574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C7C"/>
                </a:solidFill>
                <a:latin typeface="Aptos"/>
              </a:rPr>
              <a:t>Load the graph and set starting distances.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35623" y="3291840"/>
            <a:ext cx="256033" cy="0"/>
          </a:xfrm>
          <a:prstGeom prst="line">
            <a:avLst/>
          </a:prstGeom>
          <a:ln w="25400">
            <a:solidFill>
              <a:srgbClr val="203C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hevron 19"/>
          <p:cNvSpPr/>
          <p:nvPr/>
        </p:nvSpPr>
        <p:spPr>
          <a:xfrm>
            <a:off x="6291072" y="3191256"/>
            <a:ext cx="164592" cy="201168"/>
          </a:xfrm>
          <a:prstGeom prst="chevron">
            <a:avLst/>
          </a:prstGeom>
          <a:solidFill>
            <a:srgbClr val="203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73952" y="2331720"/>
            <a:ext cx="248716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560320"/>
            <a:ext cx="658368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E76757"/>
                </a:solidFill>
                <a:latin typeface="Aptos Display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136392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E76757"/>
                </a:solidFill>
                <a:latin typeface="Aptos"/>
              </a:rPr>
              <a:t>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502152"/>
            <a:ext cx="20574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C7C"/>
                </a:solidFill>
                <a:latin typeface="Aptos"/>
              </a:rPr>
              <a:t>Explore the lowest-cost candidate using a priority queue.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997696" y="3291840"/>
            <a:ext cx="256032" cy="0"/>
          </a:xfrm>
          <a:prstGeom prst="line">
            <a:avLst/>
          </a:prstGeom>
          <a:ln w="25400">
            <a:solidFill>
              <a:srgbClr val="E76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evron 25"/>
          <p:cNvSpPr/>
          <p:nvPr/>
        </p:nvSpPr>
        <p:spPr>
          <a:xfrm>
            <a:off x="9153144" y="3191256"/>
            <a:ext cx="164592" cy="201168"/>
          </a:xfrm>
          <a:prstGeom prst="chevron">
            <a:avLst/>
          </a:prstGeom>
          <a:solidFill>
            <a:srgbClr val="E76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36024" y="2331720"/>
            <a:ext cx="248716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37192" y="2560320"/>
            <a:ext cx="658368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32805B"/>
                </a:solidFill>
                <a:latin typeface="Aptos Display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37192" y="3136392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2805B"/>
                </a:solidFill>
                <a:latin typeface="Aptos"/>
              </a:rPr>
              <a:t>RECONSTRUCT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37192" y="3502152"/>
            <a:ext cx="20574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C7C"/>
                </a:solidFill>
                <a:latin typeface="Aptos"/>
              </a:rPr>
              <a:t>Trace predecessor links to recover the route.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4800600"/>
            <a:ext cx="10332720" cy="804672"/>
          </a:xfrm>
          <a:prstGeom prst="round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70432" y="5010912"/>
            <a:ext cx="1463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AF1ED"/>
                </a:solidFill>
                <a:latin typeface="Aptos"/>
              </a:rPr>
              <a:t>ROUTE OBJECTIVE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26080" y="5001768"/>
            <a:ext cx="1143000" cy="265176"/>
          </a:xfrm>
          <a:prstGeom prst="roundRect">
            <a:avLst/>
          </a:prstGeom>
          <a:solidFill>
            <a:srgbClr val="E2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71800" y="5024628"/>
            <a:ext cx="105156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32805B"/>
                </a:solidFill>
                <a:latin typeface="Aptos"/>
              </a:rPr>
              <a:t>FASTEST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43400" y="5001768"/>
            <a:ext cx="1325880" cy="265176"/>
          </a:xfrm>
          <a:prstGeom prst="roundRect">
            <a:avLst/>
          </a:prstGeom>
          <a:solidFill>
            <a:srgbClr val="F9F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0" y="5024628"/>
            <a:ext cx="1234439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142A44"/>
                </a:solidFill>
                <a:latin typeface="Aptos"/>
              </a:rPr>
              <a:t>CHEAPEST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61888" y="5001768"/>
            <a:ext cx="1828800" cy="265176"/>
          </a:xfrm>
          <a:prstGeom prst="roundRect">
            <a:avLst/>
          </a:prstGeom>
          <a:solidFill>
            <a:srgbClr val="FCE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07607" y="5024628"/>
            <a:ext cx="173736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E76757"/>
                </a:solidFill>
                <a:latin typeface="Aptos"/>
              </a:rPr>
              <a:t>FEWEST TRANSFERS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5870448"/>
            <a:ext cx="9784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C6C7C"/>
                </a:solidFill>
                <a:latin typeface="Aptos"/>
              </a:rPr>
              <a:t>The selected objective determines how each connection is weighted.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5486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008585"/>
                </a:solidFill>
                <a:latin typeface="Aptos"/>
              </a:rPr>
              <a:t>08 / EXAMPLE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42A44"/>
                </a:solidFill>
                <a:latin typeface="Aptos Display"/>
              </a:rPr>
              <a:t>Compare the journey—not just the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225296"/>
            <a:ext cx="10789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C"/>
                </a:solidFill>
                <a:latin typeface="Aptos"/>
              </a:rPr>
              <a:t>Illustrative sample values show how a commuter could evaluate alternative routes.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664208"/>
            <a:ext cx="594360" cy="41148"/>
          </a:xfrm>
          <a:prstGeom prst="rect">
            <a:avLst/>
          </a:prstGeom>
          <a:solidFill>
            <a:srgbClr val="E76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10160">
            <a:solidFill>
              <a:srgbClr val="DCE0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0528"/>
            <a:ext cx="3657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C6C7C"/>
                </a:solidFill>
                <a:latin typeface="Aptos"/>
              </a:rPr>
              <a:t>PUBLIC TRANSIT PLANNER  •  DSA-3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92240"/>
            <a:ext cx="7772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5C6C7C"/>
                </a:solidFill>
                <a:latin typeface="Aptos"/>
              </a:rPr>
              <a:t>09  /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148840"/>
            <a:ext cx="3456432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395728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2805B"/>
                </a:solidFill>
                <a:latin typeface="Aptos"/>
              </a:rPr>
              <a:t>ROUTE 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2340864"/>
            <a:ext cx="1298448" cy="265176"/>
          </a:xfrm>
          <a:prstGeom prst="roundRect">
            <a:avLst/>
          </a:prstGeom>
          <a:solidFill>
            <a:srgbClr val="E2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79" y="2363724"/>
            <a:ext cx="1207007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32805B"/>
                </a:solidFill>
                <a:latin typeface="Aptos"/>
              </a:rPr>
              <a:t>FASTEST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52928"/>
            <a:ext cx="192024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42A44"/>
                </a:solidFill>
                <a:latin typeface="Aptos Display"/>
              </a:rPr>
              <a:t>32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429000"/>
            <a:ext cx="1554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C6C7C"/>
                </a:solidFill>
                <a:latin typeface="Aptos"/>
              </a:rPr>
              <a:t>ESTIMATED TIME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05840" y="3767328"/>
            <a:ext cx="2971799" cy="0"/>
          </a:xfrm>
          <a:prstGeom prst="line">
            <a:avLst/>
          </a:prstGeom>
          <a:ln w="12700">
            <a:solidFill>
              <a:srgbClr val="DCE0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968496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A44"/>
                </a:solidFill>
                <a:latin typeface="Aptos"/>
              </a:rPr>
              <a:t>₹35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986784"/>
            <a:ext cx="11430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C7C"/>
                </a:solidFill>
                <a:latin typeface="Aptos"/>
              </a:rPr>
              <a:t>1 transfer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425696"/>
            <a:ext cx="29718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2805B"/>
                </a:solidFill>
                <a:latin typeface="Aptos"/>
              </a:rPr>
              <a:t>Metro  →  Walk  →  Bus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99431" y="2148840"/>
            <a:ext cx="3456432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28031" y="2395728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19D3D"/>
                </a:solidFill>
                <a:latin typeface="Aptos"/>
              </a:rPr>
              <a:t>ROUTE 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73951" y="2340864"/>
            <a:ext cx="1298448" cy="265176"/>
          </a:xfrm>
          <a:prstGeom prst="roundRect">
            <a:avLst/>
          </a:prstGeom>
          <a:solidFill>
            <a:srgbClr val="F9F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1" y="2363724"/>
            <a:ext cx="1207007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D19D3D"/>
                </a:solidFill>
                <a:latin typeface="Aptos"/>
              </a:rPr>
              <a:t>LOWEST FARE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8031" y="2852928"/>
            <a:ext cx="192024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42A44"/>
                </a:solidFill>
                <a:latin typeface="Aptos Display"/>
              </a:rPr>
              <a:t>45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19" y="3429000"/>
            <a:ext cx="1554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C6C7C"/>
                </a:solidFill>
                <a:latin typeface="Aptos"/>
              </a:rPr>
              <a:t>ESTIMATED TIME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28031" y="3767328"/>
            <a:ext cx="2971800" cy="0"/>
          </a:xfrm>
          <a:prstGeom prst="line">
            <a:avLst/>
          </a:prstGeom>
          <a:ln w="12700">
            <a:solidFill>
              <a:srgbClr val="DCE0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828031" y="3968496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A44"/>
                </a:solidFill>
                <a:latin typeface="Aptos"/>
              </a:rPr>
              <a:t>₹20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42431" y="3986784"/>
            <a:ext cx="11430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C7C"/>
                </a:solidFill>
                <a:latin typeface="Aptos"/>
              </a:rPr>
              <a:t>0 transfers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28031" y="4425696"/>
            <a:ext cx="29718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19D3D"/>
                </a:solidFill>
                <a:latin typeface="Aptos"/>
              </a:rPr>
              <a:t>Direct bus connection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21624" y="2148840"/>
            <a:ext cx="3456432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50224" y="2395728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E76757"/>
                </a:solidFill>
                <a:latin typeface="Aptos"/>
              </a:rPr>
              <a:t>ROUTE 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96143" y="2340864"/>
            <a:ext cx="1298448" cy="265176"/>
          </a:xfrm>
          <a:prstGeom prst="roundRect">
            <a:avLst/>
          </a:prstGeom>
          <a:solidFill>
            <a:srgbClr val="FCE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41863" y="2363724"/>
            <a:ext cx="1207007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E76757"/>
                </a:solidFill>
                <a:latin typeface="Aptos"/>
              </a:rPr>
              <a:t>BALANCED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0224" y="2852928"/>
            <a:ext cx="192024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42A44"/>
                </a:solidFill>
                <a:latin typeface="Aptos Display"/>
              </a:rPr>
              <a:t>38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8511" y="3429000"/>
            <a:ext cx="1554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C6C7C"/>
                </a:solidFill>
                <a:latin typeface="Aptos"/>
              </a:rPr>
              <a:t>ESTIMATED TIME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650224" y="3767328"/>
            <a:ext cx="2971800" cy="0"/>
          </a:xfrm>
          <a:prstGeom prst="line">
            <a:avLst/>
          </a:prstGeom>
          <a:ln w="12700">
            <a:solidFill>
              <a:srgbClr val="DCE0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650224" y="3968496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A44"/>
                </a:solidFill>
                <a:latin typeface="Aptos"/>
              </a:rPr>
              <a:t>₹30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64624" y="3986784"/>
            <a:ext cx="11430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C7C"/>
                </a:solidFill>
                <a:latin typeface="Aptos"/>
              </a:rPr>
              <a:t>1 transfer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50224" y="4425696"/>
            <a:ext cx="29718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E76757"/>
                </a:solidFill>
                <a:latin typeface="Aptos"/>
              </a:rPr>
              <a:t>Bus  →  Metro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257800"/>
            <a:ext cx="10515600" cy="566928"/>
          </a:xfrm>
          <a:prstGeom prst="roundRect">
            <a:avLst/>
          </a:prstGeom>
          <a:solidFill>
            <a:srgbClr val="E2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" y="5449824"/>
            <a:ext cx="73152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142A44"/>
                </a:solidFill>
                <a:latin typeface="Aptos"/>
              </a:rPr>
              <a:t>NOTE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74519" y="5385816"/>
            <a:ext cx="8595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C59"/>
                </a:solidFill>
                <a:latin typeface="Aptos"/>
              </a:rPr>
              <a:t>Sample values only. Live accuracy depends on connected and verified transit data.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6035040"/>
            <a:ext cx="10058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A44"/>
                </a:solidFill>
                <a:latin typeface="Aptos"/>
              </a:rPr>
              <a:t>FASTEST ≠ CHEAPEST  •  THE BEST ROUTE DEPENDS ON THE USER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5486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008585"/>
                </a:solidFill>
                <a:latin typeface="Aptos"/>
              </a:rPr>
              <a:t>09 / IMPACT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42A44"/>
                </a:solidFill>
                <a:latin typeface="Aptos Display"/>
              </a:rPr>
              <a:t>A practical foundation for smarter urban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225296"/>
            <a:ext cx="10789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C"/>
                </a:solidFill>
                <a:latin typeface="Aptos"/>
              </a:rPr>
              <a:t>The proposed system can make route decisions clearer while leaving room for future integration.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664208"/>
            <a:ext cx="594360" cy="41148"/>
          </a:xfrm>
          <a:prstGeom prst="rect">
            <a:avLst/>
          </a:prstGeom>
          <a:solidFill>
            <a:srgbClr val="E76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10160">
            <a:solidFill>
              <a:srgbClr val="DCE0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0528"/>
            <a:ext cx="3657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C6C7C"/>
                </a:solidFill>
                <a:latin typeface="Aptos"/>
              </a:rPr>
              <a:t>PUBLIC TRANSIT PLANNER  •  DSA-3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92240"/>
            <a:ext cx="7772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5C6C7C"/>
                </a:solidFill>
                <a:latin typeface="Aptos"/>
              </a:rPr>
              <a:t>10  /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10312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103120"/>
            <a:ext cx="54864" cy="1417320"/>
          </a:xfrm>
          <a:prstGeom prst="rect">
            <a:avLst/>
          </a:prstGeom>
          <a:solidFill>
            <a:srgbClr val="00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249424"/>
            <a:ext cx="29718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008585"/>
                </a:solidFill>
                <a:latin typeface="Aptos"/>
              </a:rPr>
              <a:t>COMMUTER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496312"/>
            <a:ext cx="2953512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A44"/>
                </a:solidFill>
                <a:latin typeface="Aptos Display"/>
              </a:rPr>
              <a:t>Less uncertainty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880360"/>
            <a:ext cx="2953512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C7C"/>
                </a:solidFill>
                <a:latin typeface="Aptos"/>
              </a:rPr>
              <a:t>Comparable route options and clearer trip information.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10312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2103120"/>
            <a:ext cx="54864" cy="1417320"/>
          </a:xfrm>
          <a:prstGeom prst="rect">
            <a:avLst/>
          </a:prstGeom>
          <a:solidFill>
            <a:srgbClr val="32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6007" y="2249424"/>
            <a:ext cx="29718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32805B"/>
                </a:solidFill>
                <a:latin typeface="Aptos"/>
              </a:rPr>
              <a:t>CITY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7" y="2496312"/>
            <a:ext cx="2953512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A44"/>
                </a:solidFill>
                <a:latin typeface="Aptos Display"/>
              </a:rPr>
              <a:t>Better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7" y="2880360"/>
            <a:ext cx="2953512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C7C"/>
                </a:solidFill>
                <a:latin typeface="Aptos"/>
              </a:rPr>
              <a:t>A more approachable public-transport experience.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210312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2103120"/>
            <a:ext cx="54864" cy="1417320"/>
          </a:xfrm>
          <a:prstGeom prst="rect">
            <a:avLst/>
          </a:prstGeom>
          <a:solidFill>
            <a:srgbClr val="E76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2249424"/>
            <a:ext cx="29718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E76757"/>
                </a:solidFill>
                <a:latin typeface="Aptos"/>
              </a:rPr>
              <a:t>SYSTEM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2496312"/>
            <a:ext cx="2953512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A44"/>
                </a:solidFill>
                <a:latin typeface="Aptos Display"/>
              </a:rPr>
              <a:t>Scalable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2880360"/>
            <a:ext cx="2953512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C7C"/>
                </a:solidFill>
                <a:latin typeface="Aptos"/>
              </a:rPr>
              <a:t>A modular system that can grow with data coverage.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4069080"/>
            <a:ext cx="18288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8585"/>
                </a:solidFill>
                <a:latin typeface="Aptos"/>
              </a:rPr>
              <a:t>NEXT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480560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8585"/>
                </a:solidFill>
                <a:latin typeface="Aptos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480560"/>
            <a:ext cx="5943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2A44"/>
                </a:solidFill>
                <a:latin typeface="Aptos"/>
              </a:rPr>
              <a:t>Connect verified transit feeds and live vehicle data.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910328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76757"/>
                </a:solidFill>
                <a:latin typeface="Aptos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910328"/>
            <a:ext cx="5943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2A44"/>
                </a:solidFill>
                <a:latin typeface="Aptos"/>
              </a:rPr>
              <a:t>Validate route estimates against real journeys.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340096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2805B"/>
                </a:solidFill>
                <a:latin typeface="Apto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5340096"/>
            <a:ext cx="5943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2A44"/>
                </a:solidFill>
                <a:latin typeface="Aptos"/>
              </a:rPr>
              <a:t>Improve accessibility testing and offline schedule coverage.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9560" y="4069080"/>
            <a:ext cx="3246120" cy="1600200"/>
          </a:xfrm>
          <a:prstGeom prst="round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4443984"/>
            <a:ext cx="27889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ptos Display"/>
              </a:rPr>
              <a:t>THANK YOU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5010912"/>
            <a:ext cx="2788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DAF1ED"/>
                </a:solidFill>
                <a:latin typeface="Aptos"/>
              </a:rPr>
              <a:t>Questions &amp; discussion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6336792"/>
            <a:ext cx="78638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C6C7C"/>
                </a:solidFill>
                <a:latin typeface="Aptos"/>
              </a:rPr>
              <a:t>Lokesh Tella  •  Sai Bhaskar  |  Team 12  |  Section 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6336792"/>
            <a:ext cx="2057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C6C7C"/>
                </a:solidFill>
                <a:latin typeface="Aptos"/>
              </a:rPr>
              <a:t>DSA-3  /  2026–2027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 Transit Planner — Modern Light Theme</dc:title>
  <dc:subject>DSA-3 Project Presentation</dc:subject>
  <dc:creator>Lokesh Tella and Sai Bhaskar</dc:creator>
  <cp:keywords>Public Transit Planner, DSA-3, route optimization, graph algorithms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